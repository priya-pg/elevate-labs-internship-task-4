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6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8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6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55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85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4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2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5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5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4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23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4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59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36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721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33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1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1C088D-D240-4726-B8D1-9B51054B764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0BB599F-8CA2-4E8F-A53E-C9B46D660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96B29-E51B-BFF9-B2A6-3472F8125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Global Superstore Business Performance Dashboard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03AD8-D1EB-45F4-848C-A495C28BA0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Priyadarshini Gupta</a:t>
            </a:r>
          </a:p>
          <a:p>
            <a:r>
              <a:rPr lang="en-US" dirty="0"/>
              <a:t>Date: 11/19/2025</a:t>
            </a:r>
          </a:p>
        </p:txBody>
      </p:sp>
    </p:spTree>
    <p:extLst>
      <p:ext uri="{BB962C8B-B14F-4D97-AF65-F5344CB8AC3E}">
        <p14:creationId xmlns:p14="http://schemas.microsoft.com/office/powerpoint/2010/main" val="86392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202E-4676-CBB2-B085-EA479568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C76211-0E4A-6575-4C6F-2DB0F862D6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2456871"/>
            <a:ext cx="913969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dashboard provides a comprehensive view of sales, profitability, customer behavior, and product performance for Global Superstore from 2011 to 2014.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goal is to support data-driven decision-making using interactive and time-based insights.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covers multiple years of sales transactions from the Global_Superstore2 dataset.</a:t>
            </a:r>
          </a:p>
        </p:txBody>
      </p:sp>
    </p:spTree>
    <p:extLst>
      <p:ext uri="{BB962C8B-B14F-4D97-AF65-F5344CB8AC3E}">
        <p14:creationId xmlns:p14="http://schemas.microsoft.com/office/powerpoint/2010/main" val="163271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77F8-44C4-4017-6CC3-B6A1228F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39800"/>
          </a:xfrm>
        </p:spPr>
        <p:txBody>
          <a:bodyPr/>
          <a:lstStyle/>
          <a:p>
            <a:r>
              <a:rPr lang="en-US" dirty="0"/>
              <a:t>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BA02-FC0B-C838-9312-5E4D1C9C6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745671"/>
            <a:ext cx="10018713" cy="40766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Performance indicators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Total Sales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Total Profit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Total Orders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Profit Margin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YoY Sales % (Year-over-Year)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The calculations are done to show YoY sales % for a selected year and not total.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2012: 5.44%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2013: 16.71%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2014: 6.90%</a:t>
            </a:r>
          </a:p>
          <a:p>
            <a:r>
              <a:rPr lang="en-US" dirty="0"/>
              <a:t>These KPIs remain visible across all pages to offer instant, consistent visibility into business health.</a:t>
            </a:r>
          </a:p>
          <a:p>
            <a:endParaRPr lang="en-US" dirty="0"/>
          </a:p>
        </p:txBody>
      </p:sp>
      <p:pic>
        <p:nvPicPr>
          <p:cNvPr id="5" name="Picture 4" descr="A screenshot of a financial analysis&#10;&#10;AI-generated content may be incorrect.">
            <a:extLst>
              <a:ext uri="{FF2B5EF4-FFF2-40B4-BE49-F238E27FC236}">
                <a16:creationId xmlns:a16="http://schemas.microsoft.com/office/drawing/2014/main" id="{81628375-1C6D-5EEE-ACCF-4138A496E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6" t="8343" r="2189" b="77683"/>
          <a:stretch/>
        </p:blipFill>
        <p:spPr>
          <a:xfrm>
            <a:off x="3855314" y="5517499"/>
            <a:ext cx="7647709" cy="8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6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B10B-3D66-C303-8624-B11F387F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58273"/>
          </a:xfrm>
        </p:spPr>
        <p:txBody>
          <a:bodyPr/>
          <a:lstStyle/>
          <a:p>
            <a:r>
              <a:rPr lang="en-US" dirty="0"/>
              <a:t>Sales Performance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943F-CDEC-4604-BA23-BC0D5823A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9585" y="1717965"/>
            <a:ext cx="4895055" cy="4073236"/>
          </a:xfrm>
        </p:spPr>
        <p:txBody>
          <a:bodyPr/>
          <a:lstStyle/>
          <a:p>
            <a:r>
              <a:rPr lang="en-US" b="1" dirty="0"/>
              <a:t>Key Insights: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Steady month-over-month growth from 2011 to 2014.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Sales increased consistently each year, with healthy YoY growth percentages.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Seasonal trends can be identified through yearly patterns.</a:t>
            </a:r>
          </a:p>
          <a:p>
            <a:r>
              <a:rPr lang="en-US" b="1" dirty="0"/>
              <a:t>Visuals Shown in Dashboard: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Sales by Month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Seasonal Patterns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Sales by Market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F8742B-FEBD-3697-5885-EE26436BB7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4" r="3284" b="8284"/>
          <a:stretch/>
        </p:blipFill>
        <p:spPr>
          <a:xfrm>
            <a:off x="6287002" y="1886918"/>
            <a:ext cx="5401051" cy="3904283"/>
          </a:xfrm>
        </p:spPr>
      </p:pic>
    </p:spTree>
    <p:extLst>
      <p:ext uri="{BB962C8B-B14F-4D97-AF65-F5344CB8AC3E}">
        <p14:creationId xmlns:p14="http://schemas.microsoft.com/office/powerpoint/2010/main" val="250074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B10B-3D66-C303-8624-B11F387F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58273"/>
          </a:xfrm>
        </p:spPr>
        <p:txBody>
          <a:bodyPr/>
          <a:lstStyle/>
          <a:p>
            <a:r>
              <a:rPr lang="en-US" dirty="0"/>
              <a:t>Profit &amp; Margin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943F-CDEC-4604-BA23-BC0D5823A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9585" y="1717965"/>
            <a:ext cx="4895055" cy="4073236"/>
          </a:xfrm>
        </p:spPr>
        <p:txBody>
          <a:bodyPr/>
          <a:lstStyle/>
          <a:p>
            <a:r>
              <a:rPr lang="en-US" b="1" dirty="0"/>
              <a:t>Findings: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Profitability varies significantly across product categories and discount levels.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Higher discount bands show reduced profit, indicating discounting inefficiency.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Opportunities exist to refine discount strategy for certain categories.</a:t>
            </a:r>
          </a:p>
          <a:p>
            <a:r>
              <a:rPr lang="en-US" b="1" dirty="0"/>
              <a:t>Supporting Visuals: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Profit vs Discount Scatter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Profit Margin by Category</a:t>
            </a:r>
          </a:p>
        </p:txBody>
      </p:sp>
      <p:pic>
        <p:nvPicPr>
          <p:cNvPr id="8" name="Content Placeholder 7" descr="A screenshot of a financial analysis&#10;&#10;AI-generated content may be incorrect.">
            <a:extLst>
              <a:ext uri="{FF2B5EF4-FFF2-40B4-BE49-F238E27FC236}">
                <a16:creationId xmlns:a16="http://schemas.microsoft.com/office/drawing/2014/main" id="{BF796A78-E596-2E54-8780-F021CA5A71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19" b="8742"/>
          <a:stretch/>
        </p:blipFill>
        <p:spPr>
          <a:xfrm>
            <a:off x="6465456" y="2038065"/>
            <a:ext cx="5203824" cy="3753136"/>
          </a:xfrm>
        </p:spPr>
      </p:pic>
    </p:spTree>
    <p:extLst>
      <p:ext uri="{BB962C8B-B14F-4D97-AF65-F5344CB8AC3E}">
        <p14:creationId xmlns:p14="http://schemas.microsoft.com/office/powerpoint/2010/main" val="329372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B10B-3D66-C303-8624-B11F387F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58273"/>
          </a:xfrm>
        </p:spPr>
        <p:txBody>
          <a:bodyPr/>
          <a:lstStyle/>
          <a:p>
            <a:r>
              <a:rPr lang="en-US" dirty="0"/>
              <a:t>Customer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943F-CDEC-4604-BA23-BC0D5823A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9585" y="1717965"/>
            <a:ext cx="4895055" cy="4073236"/>
          </a:xfrm>
        </p:spPr>
        <p:txBody>
          <a:bodyPr>
            <a:normAutofit/>
          </a:bodyPr>
          <a:lstStyle/>
          <a:p>
            <a:r>
              <a:rPr lang="en-US" b="1" dirty="0"/>
              <a:t>Highlights: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Customer segmentation reveals top contributing segments based on sales and profit; Consumers.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Geographic insights show regions driving the highest performance.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Identifying high-value customers helps align marketing and retention efforts.</a:t>
            </a:r>
          </a:p>
          <a:p>
            <a:r>
              <a:rPr lang="en-US" b="1" dirty="0"/>
              <a:t>Dashboard Visuals: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Top Customers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Segment-based Customer Distribution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Region-wise Sales Breakdown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EECE70-0E01-F711-FD4D-8F702B1FCA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4" b="10766"/>
          <a:stretch/>
        </p:blipFill>
        <p:spPr>
          <a:xfrm>
            <a:off x="6345666" y="2059709"/>
            <a:ext cx="5323614" cy="3687619"/>
          </a:xfrm>
        </p:spPr>
      </p:pic>
    </p:spTree>
    <p:extLst>
      <p:ext uri="{BB962C8B-B14F-4D97-AF65-F5344CB8AC3E}">
        <p14:creationId xmlns:p14="http://schemas.microsoft.com/office/powerpoint/2010/main" val="363734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B10B-3D66-C303-8624-B11F387F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58273"/>
          </a:xfrm>
        </p:spPr>
        <p:txBody>
          <a:bodyPr/>
          <a:lstStyle/>
          <a:p>
            <a:r>
              <a:rPr lang="en-US" dirty="0"/>
              <a:t>Product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943F-CDEC-4604-BA23-BC0D5823A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9585" y="1717965"/>
            <a:ext cx="4895055" cy="4073236"/>
          </a:xfrm>
        </p:spPr>
        <p:txBody>
          <a:bodyPr>
            <a:normAutofit/>
          </a:bodyPr>
          <a:lstStyle/>
          <a:p>
            <a:r>
              <a:rPr lang="en-US" b="1" dirty="0"/>
              <a:t>Key Observations: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Certain product categories and subcategories contribute disproportionately to sales.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Top-selling products show strong consistency across years.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Product-level analysis supports inventory, pricing, and promotional decisions.</a:t>
            </a:r>
          </a:p>
          <a:p>
            <a:r>
              <a:rPr lang="en-US" b="1" dirty="0"/>
              <a:t>Supporting Visuals: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Category/Subcategory Sales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Top and bottom 10 Products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05117C-C3DE-FE63-5E6D-A261CE3DB8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3" b="9775"/>
          <a:stretch/>
        </p:blipFill>
        <p:spPr>
          <a:xfrm>
            <a:off x="6194640" y="1977440"/>
            <a:ext cx="5308384" cy="3742228"/>
          </a:xfrm>
        </p:spPr>
      </p:pic>
    </p:spTree>
    <p:extLst>
      <p:ext uri="{BB962C8B-B14F-4D97-AF65-F5344CB8AC3E}">
        <p14:creationId xmlns:p14="http://schemas.microsoft.com/office/powerpoint/2010/main" val="427598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B10B-3D66-C303-8624-B11F387F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58273"/>
          </a:xfrm>
        </p:spPr>
        <p:txBody>
          <a:bodyPr/>
          <a:lstStyle/>
          <a:p>
            <a:r>
              <a:rPr lang="en-US" dirty="0"/>
              <a:t>Forecasting &amp; Future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7943F-CDEC-4604-BA23-BC0D5823A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9585" y="1717965"/>
            <a:ext cx="4895055" cy="4073236"/>
          </a:xfrm>
        </p:spPr>
        <p:txBody>
          <a:bodyPr>
            <a:normAutofit/>
          </a:bodyPr>
          <a:lstStyle/>
          <a:p>
            <a:r>
              <a:rPr lang="en-US" b="1" dirty="0"/>
              <a:t>Insights: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Forecasting models predict continued upward sales trends under current conditions.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Helps anticipate inventory requirements and seasonal peaks.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Supports strategic planning and budgeting for the next financial year.</a:t>
            </a:r>
          </a:p>
          <a:p>
            <a:r>
              <a:rPr lang="en-US" b="1" dirty="0"/>
              <a:t>Visual Used: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Time-Series Forecast Chart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2B15F4-F905-EB8F-37F7-9E7E0B4B59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1" b="9215"/>
          <a:stretch/>
        </p:blipFill>
        <p:spPr>
          <a:xfrm>
            <a:off x="6363478" y="1955218"/>
            <a:ext cx="5344821" cy="3835983"/>
          </a:xfrm>
        </p:spPr>
      </p:pic>
    </p:spTree>
    <p:extLst>
      <p:ext uri="{BB962C8B-B14F-4D97-AF65-F5344CB8AC3E}">
        <p14:creationId xmlns:p14="http://schemas.microsoft.com/office/powerpoint/2010/main" val="394764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6B225C-4ABF-7717-05E7-FD65CADA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Recommendation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FB31EC-A2A6-62F8-131B-94334D4AD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the dashboard insights:</a:t>
            </a:r>
          </a:p>
          <a:p>
            <a:pPr>
              <a:buFont typeface="+mj-lt"/>
              <a:buAutoNum type="arabicPeriod"/>
            </a:pPr>
            <a:r>
              <a:rPr lang="en-US" dirty="0"/>
              <a:t>Optimize discount policies to improve profit margins.</a:t>
            </a:r>
          </a:p>
          <a:p>
            <a:pPr>
              <a:buFont typeface="+mj-lt"/>
              <a:buAutoNum type="arabicPeriod"/>
            </a:pPr>
            <a:r>
              <a:rPr lang="en-US" dirty="0"/>
              <a:t>Invest in high-performing regions &amp; segments for better ROI.</a:t>
            </a:r>
          </a:p>
          <a:p>
            <a:pPr>
              <a:buFont typeface="+mj-lt"/>
              <a:buAutoNum type="arabicPeriod"/>
            </a:pPr>
            <a:r>
              <a:rPr lang="en-US" dirty="0"/>
              <a:t>Stock and promote top-selling products to maintain momentum.</a:t>
            </a:r>
          </a:p>
          <a:p>
            <a:pPr>
              <a:buFont typeface="+mj-lt"/>
              <a:buAutoNum type="arabicPeriod"/>
            </a:pPr>
            <a:r>
              <a:rPr lang="en-US" dirty="0"/>
              <a:t>Leverage customer segmentation for targeted marketing.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forecasting insights to plan inventory and resource allocation.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94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34</TotalTime>
  <Words>416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Global Superstore Business Performance Dashboard</vt:lpstr>
      <vt:lpstr>Executive Summary</vt:lpstr>
      <vt:lpstr>Key Metrics</vt:lpstr>
      <vt:lpstr>Sales Performance Overview</vt:lpstr>
      <vt:lpstr>Profit &amp; Margin Analysis</vt:lpstr>
      <vt:lpstr>Customer Insights</vt:lpstr>
      <vt:lpstr>Product Performance</vt:lpstr>
      <vt:lpstr>Forecasting &amp; Future Outputs</vt:lpstr>
      <vt:lpstr>Strategic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Gupta</dc:creator>
  <cp:lastModifiedBy>Priya Gupta</cp:lastModifiedBy>
  <cp:revision>1</cp:revision>
  <dcterms:created xsi:type="dcterms:W3CDTF">2025-11-19T12:03:07Z</dcterms:created>
  <dcterms:modified xsi:type="dcterms:W3CDTF">2025-11-19T12:37:11Z</dcterms:modified>
</cp:coreProperties>
</file>